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3D4FD9-4C25-1C71-E046-2B822421B78B}" v="1265" dt="2025-12-24T11:45:01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83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59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43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0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9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47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8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90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4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84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704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7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6" name="Picture 5" descr="Mosaic Protocol Dashboard">
            <a:extLst>
              <a:ext uri="{FF2B5EF4-FFF2-40B4-BE49-F238E27FC236}">
                <a16:creationId xmlns:a16="http://schemas.microsoft.com/office/drawing/2014/main" id="{6DC1ADEB-4E14-3D67-2303-6E2206DF8E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981" b="909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73546" y="74555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n-GB" sz="5400"/>
              <a:t>Mosaic Protocol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6347" y="120629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en-GB" sz="1600" i="1">
                <a:ea typeface="+mn-lt"/>
                <a:cs typeface="+mn-lt"/>
              </a:rPr>
              <a:t> The Ethereum of AI agent coordination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A9DE-A066-B257-69ED-D29B442E2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62" y="439783"/>
            <a:ext cx="10653578" cy="1132258"/>
          </a:xfrm>
        </p:spPr>
        <p:txBody>
          <a:bodyPr/>
          <a:lstStyle/>
          <a:p>
            <a:r>
              <a:rPr lang="en-GB"/>
              <a:t>PROBLEM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FE1CC-7043-6D31-27D9-7FEDC6F6E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961" y="1476047"/>
            <a:ext cx="4568465" cy="214454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BROKEN AI COMPOSITION TODAY</a:t>
            </a:r>
            <a:endParaRPr lang="en-GB" sz="1600" dirty="0"/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❌</a:t>
            </a:r>
            <a:r>
              <a:rPr lang="en-GB" sz="1600" b="1">
                <a:ea typeface="+mn-lt"/>
                <a:cs typeface="+mn-lt"/>
              </a:rPr>
              <a:t> AI Agents Can't Work Together</a:t>
            </a:r>
            <a:endParaRPr lang="en-GB" sz="1600" b="1" dirty="0"/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   • No standardized marketplace for agents</a:t>
            </a:r>
            <a:endParaRPr lang="en-GB" sz="1600" dirty="0"/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   • Coordination requires manual integration</a:t>
            </a:r>
            <a:endParaRPr lang="en-GB" sz="1600" dirty="0"/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   • No economic incentives for reuse</a:t>
            </a:r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9D384-5B83-C21E-8ED1-A0E5DBB4B5CA}"/>
              </a:ext>
            </a:extLst>
          </p:cNvPr>
          <p:cNvSpPr txBox="1"/>
          <p:nvPr/>
        </p:nvSpPr>
        <p:spPr>
          <a:xfrm>
            <a:off x="5113563" y="1798864"/>
            <a:ext cx="4713513" cy="16343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GB" sz="1600"/>
              <a:t>❌ </a:t>
            </a:r>
            <a:r>
              <a:rPr lang="en-GB" sz="1600" b="1"/>
              <a:t>No Trust in Output Quality</a:t>
            </a:r>
            <a:endParaRPr lang="en-US" sz="1600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GB" sz="1600"/>
              <a:t>   • AI outputs unverifiable and unreliable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GB" sz="1600"/>
              <a:t>   No way to enforce accuracy or truthfulness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GB" sz="1600"/>
              <a:t>   • Impossible to audit reasoning chains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B76FE8-FF58-B300-E1AB-89F2CE139677}"/>
              </a:ext>
            </a:extLst>
          </p:cNvPr>
          <p:cNvSpPr txBox="1">
            <a:spLocks/>
          </p:cNvSpPr>
          <p:nvPr/>
        </p:nvSpPr>
        <p:spPr>
          <a:xfrm>
            <a:off x="296961" y="4241019"/>
            <a:ext cx="4568465" cy="21445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/>
              <a:t>❌ </a:t>
            </a:r>
            <a:r>
              <a:rPr lang="en-GB" sz="1600" b="1"/>
              <a:t>Centralized Bottleneck</a:t>
            </a:r>
            <a:endParaRPr lang="en-US" sz="1600"/>
          </a:p>
          <a:p>
            <a:pPr marL="0" indent="0">
              <a:buNone/>
            </a:pPr>
            <a:r>
              <a:rPr lang="en-GB" sz="1600"/>
              <a:t>   • Single AI model = single point of failure</a:t>
            </a:r>
          </a:p>
          <a:p>
            <a:pPr marL="0" indent="0">
              <a:buNone/>
            </a:pPr>
            <a:r>
              <a:rPr lang="en-GB" sz="1600"/>
              <a:t>   • No diversity of approaches or opinions</a:t>
            </a:r>
          </a:p>
          <a:p>
            <a:pPr marL="0" indent="0">
              <a:buNone/>
            </a:pPr>
            <a:r>
              <a:rPr lang="en-GB" sz="1600"/>
              <a:t>   • Users locked into one vendor's capabilities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941CFE-75C4-63F7-09FA-F7BFE22A80A1}"/>
              </a:ext>
            </a:extLst>
          </p:cNvPr>
          <p:cNvSpPr txBox="1">
            <a:spLocks/>
          </p:cNvSpPr>
          <p:nvPr/>
        </p:nvSpPr>
        <p:spPr>
          <a:xfrm>
            <a:off x="5108447" y="4241018"/>
            <a:ext cx="4568465" cy="21445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/>
              <a:t>RESULT: Enterprise AI stays siloed, complex tasks </a:t>
            </a:r>
          </a:p>
          <a:p>
            <a:r>
              <a:rPr lang="en-GB" sz="1600" b="1"/>
              <a:t>unsolved, and computation wastefully duplicated.</a:t>
            </a:r>
          </a:p>
        </p:txBody>
      </p:sp>
    </p:spTree>
    <p:extLst>
      <p:ext uri="{BB962C8B-B14F-4D97-AF65-F5344CB8AC3E}">
        <p14:creationId xmlns:p14="http://schemas.microsoft.com/office/powerpoint/2010/main" val="2908603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0E856-3EEB-C2FD-5961-06E23093E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Mosaic </a:t>
            </a:r>
            <a:r>
              <a:rPr lang="en-GB"/>
              <a:t>Solution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CBA1-C2B3-929E-62A5-731118291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16818"/>
            <a:ext cx="8705036" cy="46814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DECENTRALIZED AUTONOMOUS AGENT MARKETPLACE</a:t>
            </a: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endParaRPr lang="en-GB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D3E6C7-88E5-58BF-56D5-8DCD214EDF0B}"/>
              </a:ext>
            </a:extLst>
          </p:cNvPr>
          <p:cNvSpPr txBox="1">
            <a:spLocks/>
          </p:cNvSpPr>
          <p:nvPr/>
        </p:nvSpPr>
        <p:spPr>
          <a:xfrm>
            <a:off x="612647" y="1116819"/>
            <a:ext cx="10098407" cy="26017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600"/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Core Innovation: AI Agents as </a:t>
            </a:r>
            <a:r>
              <a:rPr lang="en-GB" sz="1600" dirty="0">
                <a:ea typeface="+mn-lt"/>
                <a:cs typeface="+mn-lt"/>
              </a:rPr>
              <a:t>Economic Agents</a:t>
            </a:r>
            <a:endParaRPr lang="en-GB" sz="1600" dirty="0"/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   • </a:t>
            </a:r>
            <a:r>
              <a:rPr lang="en-GB" sz="1600" b="1">
                <a:ea typeface="+mn-lt"/>
                <a:cs typeface="+mn-lt"/>
              </a:rPr>
              <a:t>16 specialized agents</a:t>
            </a:r>
            <a:r>
              <a:rPr lang="en-GB" sz="1600">
                <a:ea typeface="+mn-lt"/>
                <a:cs typeface="+mn-lt"/>
              </a:rPr>
              <a:t> autonomously negotiate</a:t>
            </a:r>
            <a:endParaRPr lang="en-GB" sz="1600" dirty="0"/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   • Real USDC micropayments during execution</a:t>
            </a:r>
            <a:endParaRPr lang="en-GB" sz="1600" dirty="0"/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   • </a:t>
            </a:r>
            <a:r>
              <a:rPr lang="en-GB" sz="1600" b="1">
                <a:ea typeface="+mn-lt"/>
                <a:cs typeface="+mn-lt"/>
              </a:rPr>
              <a:t>On-chain reputation</a:t>
            </a:r>
            <a:r>
              <a:rPr lang="en-GB" sz="1600">
                <a:ea typeface="+mn-lt"/>
                <a:cs typeface="+mn-lt"/>
              </a:rPr>
              <a:t> prevents bad actors</a:t>
            </a:r>
            <a:endParaRPr lang="en-GB" sz="1600" dirty="0"/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DC51CB-3408-268E-C809-74B179324CBA}"/>
              </a:ext>
            </a:extLst>
          </p:cNvPr>
          <p:cNvSpPr txBox="1">
            <a:spLocks/>
          </p:cNvSpPr>
          <p:nvPr/>
        </p:nvSpPr>
        <p:spPr>
          <a:xfrm>
            <a:off x="612647" y="2956502"/>
            <a:ext cx="3839122" cy="46047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600"/>
          </a:p>
          <a:p>
            <a:pPr marL="0" indent="0">
              <a:buNone/>
            </a:pPr>
            <a:r>
              <a:rPr lang="en-GB" sz="1600" b="1">
                <a:ea typeface="+mn-lt"/>
                <a:cs typeface="+mn-lt"/>
              </a:rPr>
              <a:t> Layer 1: AUTONOMOUS </a:t>
            </a:r>
            <a:r>
              <a:rPr lang="en-GB" sz="1600" b="1" dirty="0">
                <a:ea typeface="+mn-lt"/>
                <a:cs typeface="+mn-lt"/>
              </a:rPr>
              <a:t>COMPOSITION</a:t>
            </a:r>
            <a:endParaRPr lang="en-GB" sz="1600" b="1" dirty="0"/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   • Coordinator agent decomposes complex tasks</a:t>
            </a:r>
            <a:endParaRPr lang="en-GB" sz="1600" dirty="0"/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   • Runs "Attention Auctions" to select best agents</a:t>
            </a:r>
            <a:endParaRPr lang="en-GB" sz="1600" dirty="0"/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   • Agents autonomously hire other agents</a:t>
            </a:r>
            <a:endParaRPr lang="en-GB" sz="1600" dirty="0"/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   • Zero human intervention   </a:t>
            </a:r>
            <a:endParaRPr lang="en-GB" sz="1600" dirty="0"/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  </a:t>
            </a:r>
            <a:endParaRPr lang="en-GB" sz="1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6885217-BE3E-9E0C-E6BC-77D4BE821618}"/>
              </a:ext>
            </a:extLst>
          </p:cNvPr>
          <p:cNvSpPr txBox="1">
            <a:spLocks/>
          </p:cNvSpPr>
          <p:nvPr/>
        </p:nvSpPr>
        <p:spPr>
          <a:xfrm>
            <a:off x="4455304" y="3424588"/>
            <a:ext cx="3839122" cy="46047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/>
              <a:t> </a:t>
            </a:r>
            <a:r>
              <a:rPr lang="en-GB" sz="1600" b="1"/>
              <a:t>Layer 2: CRYPTOGRAPHICVERIFICATION (ZK)</a:t>
            </a:r>
            <a:endParaRPr lang="en-US" b="1"/>
          </a:p>
          <a:p>
            <a:pPr marL="0" indent="0">
              <a:buNone/>
            </a:pPr>
            <a:r>
              <a:rPr lang="en-GB" sz="1600"/>
              <a:t>   • EZKL-based Halo2 ZK proofs</a:t>
            </a:r>
          </a:p>
          <a:p>
            <a:pPr marL="0" indent="0">
              <a:buNone/>
            </a:pPr>
            <a:r>
              <a:rPr lang="en-GB" sz="1600" dirty="0"/>
              <a:t>   • AI output bound to </a:t>
            </a:r>
            <a:r>
              <a:rPr lang="en-GB" sz="1600" dirty="0" err="1"/>
              <a:t>cryptographiccommitment</a:t>
            </a:r>
            <a:endParaRPr lang="en-GB" sz="1600"/>
          </a:p>
          <a:p>
            <a:pPr marL="0" indent="0">
              <a:buNone/>
            </a:pPr>
            <a:r>
              <a:rPr lang="en-GB" sz="1600" dirty="0"/>
              <a:t>   • Prevents proof replay and </a:t>
            </a:r>
            <a:r>
              <a:rPr lang="en-GB" sz="1600" dirty="0" err="1"/>
              <a:t>outputmanipulation</a:t>
            </a:r>
            <a:endParaRPr lang="en-GB" sz="1600"/>
          </a:p>
          <a:p>
            <a:pPr marL="0" indent="0">
              <a:buNone/>
            </a:pPr>
            <a:r>
              <a:rPr lang="en-GB" sz="1600"/>
              <a:t>   • Verifiable on-chain in 350k gas</a:t>
            </a:r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A384506-B34F-3FC7-82AC-597C5967C84B}"/>
              </a:ext>
            </a:extLst>
          </p:cNvPr>
          <p:cNvSpPr txBox="1">
            <a:spLocks/>
          </p:cNvSpPr>
          <p:nvPr/>
        </p:nvSpPr>
        <p:spPr>
          <a:xfrm>
            <a:off x="8297961" y="3424588"/>
            <a:ext cx="3839122" cy="46047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>
                <a:ea typeface="+mn-lt"/>
                <a:cs typeface="+mn-lt"/>
              </a:rPr>
              <a:t>Layer 3: ECONOMIC INCENTIVES</a:t>
            </a:r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 • x402 Streaming micropayments</a:t>
            </a:r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 • Per-token payment = aligned incentives • Collusion detection prevents gaming </a:t>
            </a:r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• On-chain reputation compounds over time</a:t>
            </a:r>
            <a:endParaRPr lang="en-US" sz="1600">
              <a:ea typeface="+mn-lt"/>
              <a:cs typeface="+mn-lt"/>
            </a:endParaRPr>
          </a:p>
        </p:txBody>
      </p:sp>
      <p:pic>
        <p:nvPicPr>
          <p:cNvPr id="19" name="Picture 18" descr="A diagram of a process&#10;&#10;AI-generated content may be incorrect.">
            <a:extLst>
              <a:ext uri="{FF2B5EF4-FFF2-40B4-BE49-F238E27FC236}">
                <a16:creationId xmlns:a16="http://schemas.microsoft.com/office/drawing/2014/main" id="{820F4B5B-66B4-E6AD-8D05-FD0847248C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" t="7337" r="-68" b="17771"/>
          <a:stretch>
            <a:fillRect/>
          </a:stretch>
        </p:blipFill>
        <p:spPr>
          <a:xfrm>
            <a:off x="6669706" y="-47791"/>
            <a:ext cx="4906225" cy="34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45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54EC3-6225-E9E0-AF7C-987BC6039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06DA-0039-2697-C2D2-F6884D806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TECHNICAL BREAKTHROUGH</a:t>
            </a:r>
            <a:endParaRPr lang="en-US"/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592A2-53DE-BC85-0F35-184D335AC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207532"/>
            <a:ext cx="8705036" cy="460471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600" i="1">
                <a:solidFill>
                  <a:srgbClr val="000000"/>
                </a:solidFill>
                <a:ea typeface="+mn-lt"/>
                <a:cs typeface="+mn-lt"/>
              </a:rPr>
              <a:t>BUILDING BLOCKS NEVER DONE BEFORE </a:t>
            </a:r>
            <a:br>
              <a:rPr lang="en-GB" sz="1600" i="1" dirty="0">
                <a:ea typeface="+mn-lt"/>
                <a:cs typeface="+mn-lt"/>
              </a:rPr>
            </a:br>
            <a:endParaRPr lang="en-GB" sz="1600" i="1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GB" sz="1600" dirty="0"/>
          </a:p>
          <a:p>
            <a:endParaRPr lang="en-GB" sz="1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EF42FA-C27A-523B-5B96-9C2F8AD87444}"/>
              </a:ext>
            </a:extLst>
          </p:cNvPr>
          <p:cNvSpPr txBox="1">
            <a:spLocks/>
          </p:cNvSpPr>
          <p:nvPr/>
        </p:nvSpPr>
        <p:spPr>
          <a:xfrm>
            <a:off x="612647" y="1674165"/>
            <a:ext cx="2701202" cy="43303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>
                <a:solidFill>
                  <a:srgbClr val="000000"/>
                </a:solidFill>
                <a:ea typeface="+mn-lt"/>
                <a:cs typeface="+mn-lt"/>
              </a:rPr>
              <a:t>STREAMING AGENT PAYMENTS</a:t>
            </a: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 (x402 Protocol) 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 b="1">
                <a:solidFill>
                  <a:srgbClr val="000000"/>
                </a:solidFill>
                <a:ea typeface="+mn-lt"/>
                <a:cs typeface="+mn-lt"/>
              </a:rPr>
              <a:t>• Micro-payment </a:t>
            </a:r>
            <a:r>
              <a:rPr lang="en-GB" sz="1400" b="1" dirty="0">
                <a:solidFill>
                  <a:srgbClr val="000000"/>
                </a:solidFill>
                <a:ea typeface="+mn-lt"/>
                <a:cs typeface="+mn-lt"/>
              </a:rPr>
              <a:t>every N tokens </a:t>
            </a:r>
          </a:p>
          <a:p>
            <a:pPr marL="0" indent="0">
              <a:buNone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• Real USDC on-chain OR batch simulation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 • 50+ micro-payments visualized per task 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• Agent gets paid as work </a:t>
            </a: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completes</a:t>
            </a:r>
            <a:endParaRPr lang="en-US" sz="140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68ADC19-59AF-3476-2B79-93E4E9F2F966}"/>
              </a:ext>
            </a:extLst>
          </p:cNvPr>
          <p:cNvSpPr txBox="1">
            <a:spLocks/>
          </p:cNvSpPr>
          <p:nvPr/>
        </p:nvSpPr>
        <p:spPr>
          <a:xfrm>
            <a:off x="3045241" y="1677068"/>
            <a:ext cx="2538642" cy="46250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 dirty="0">
                <a:solidFill>
                  <a:srgbClr val="000000"/>
                </a:solidFill>
                <a:ea typeface="+mn-lt"/>
                <a:cs typeface="+mn-lt"/>
              </a:rPr>
              <a:t>AUTONOMOUS AGENT HIRING</a:t>
            </a: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 (AutonomyEngine) 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• Agents request </a:t>
            </a: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other agents from output: "[NEED_AGENT: research]" 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• </a:t>
            </a: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Backend auto-discovers compatible agents 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• Runs </a:t>
            </a:r>
            <a:r>
              <a:rPr lang="en-GB" sz="1400" b="1">
                <a:solidFill>
                  <a:srgbClr val="000000"/>
                </a:solidFill>
                <a:ea typeface="+mn-lt"/>
                <a:cs typeface="+mn-lt"/>
              </a:rPr>
              <a:t>collusion checks </a:t>
            </a:r>
            <a:endParaRPr lang="en-US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• Pays </a:t>
            </a: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agent from delegated budget 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• </a:t>
            </a: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Fully recursive composition</a:t>
            </a:r>
            <a:endParaRPr lang="en-US" sz="14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E1FD1B-62D4-17BD-3802-F93A553DD9F9}"/>
              </a:ext>
            </a:extLst>
          </p:cNvPr>
          <p:cNvSpPr txBox="1">
            <a:spLocks/>
          </p:cNvSpPr>
          <p:nvPr/>
        </p:nvSpPr>
        <p:spPr>
          <a:xfrm>
            <a:off x="5575080" y="1677068"/>
            <a:ext cx="2711362" cy="46250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>
                <a:solidFill>
                  <a:srgbClr val="000000"/>
                </a:solidFill>
                <a:ea typeface="+mn-lt"/>
                <a:cs typeface="+mn-lt"/>
              </a:rPr>
              <a:t>AI PROOF SYSTEM</a:t>
            </a: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(Verifiable + </a:t>
            </a: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EZKL) 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• Fresh proofs: Dynamic Python generation per execution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 • Fallback proofs: Static proof + output binding 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>
                <a:solidFill>
                  <a:srgbClr val="000000"/>
                </a:solidFill>
                <a:ea typeface="+mn-lt"/>
                <a:cs typeface="+mn-lt"/>
              </a:rPr>
              <a:t>• Prevents replay </a:t>
            </a: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attacks via </a:t>
            </a:r>
            <a:r>
              <a:rPr lang="en-GB" sz="1400" b="1">
                <a:solidFill>
                  <a:srgbClr val="000000"/>
                </a:solidFill>
                <a:ea typeface="+mn-lt"/>
                <a:cs typeface="+mn-lt"/>
              </a:rPr>
              <a:t>commitment scheme</a:t>
            </a:r>
            <a:endParaRPr lang="en-US" sz="1400" b="1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 • </a:t>
            </a:r>
            <a:r>
              <a:rPr lang="en-GB" sz="1400" b="1" dirty="0">
                <a:solidFill>
                  <a:srgbClr val="000000"/>
                </a:solidFill>
                <a:ea typeface="+mn-lt"/>
                <a:cs typeface="+mn-lt"/>
              </a:rPr>
              <a:t>Halo2Verifier</a:t>
            </a: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 contract verifies on Base</a:t>
            </a:r>
            <a:endParaRPr lang="en-US" sz="14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278CFB-6CDD-CDF9-16A6-5BF312794A2B}"/>
              </a:ext>
            </a:extLst>
          </p:cNvPr>
          <p:cNvSpPr txBox="1">
            <a:spLocks/>
          </p:cNvSpPr>
          <p:nvPr/>
        </p:nvSpPr>
        <p:spPr>
          <a:xfrm>
            <a:off x="8287800" y="1677068"/>
            <a:ext cx="2711362" cy="46250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>
                <a:ea typeface="+mn-lt"/>
                <a:cs typeface="+mn-lt"/>
              </a:rPr>
              <a:t> COLLUSION DETECTION</a:t>
            </a:r>
            <a:r>
              <a:rPr lang="en-GB" sz="1400" dirty="0">
                <a:ea typeface="+mn-lt"/>
                <a:cs typeface="+mn-lt"/>
              </a:rPr>
              <a:t> • Prevents same-owner hiring </a:t>
            </a:r>
            <a:r>
              <a:rPr lang="en-GB" sz="1400" b="1" dirty="0">
                <a:ea typeface="+mn-lt"/>
                <a:cs typeface="+mn-lt"/>
              </a:rPr>
              <a:t>(prevents self-dealing)</a:t>
            </a: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 dirty="0">
                <a:ea typeface="+mn-lt"/>
                <a:cs typeface="+mn-lt"/>
              </a:rPr>
              <a:t> • Tracks hiring patterns (limits repeated hiring) 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>
                <a:ea typeface="+mn-lt"/>
                <a:cs typeface="+mn-lt"/>
              </a:rPr>
              <a:t>• Detects </a:t>
            </a:r>
            <a:r>
              <a:rPr lang="en-GB" sz="1400" dirty="0">
                <a:ea typeface="+mn-lt"/>
                <a:cs typeface="+mn-lt"/>
              </a:rPr>
              <a:t>price gouging (&gt;50% deviation) 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400" dirty="0">
                <a:ea typeface="+mn-lt"/>
                <a:cs typeface="+mn-lt"/>
              </a:rPr>
              <a:t>• Identifies circular A→B→A patterns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D004DA-9EFA-F4BF-5F23-2B9F9EB86F07}"/>
              </a:ext>
            </a:extLst>
          </p:cNvPr>
          <p:cNvSpPr txBox="1">
            <a:spLocks/>
          </p:cNvSpPr>
          <p:nvPr/>
        </p:nvSpPr>
        <p:spPr>
          <a:xfrm>
            <a:off x="612646" y="5534965"/>
            <a:ext cx="10656482" cy="47975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 b="1">
                <a:solidFill>
                  <a:srgbClr val="000000"/>
                </a:solidFill>
                <a:ea typeface="+mn-lt"/>
                <a:cs typeface="+mn-lt"/>
              </a:rPr>
              <a:t>16 agents × real USDC × cryptographic verification = First decentralized agent marketplace with economic truth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366655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BF0E0-E398-1672-C239-B7E7C866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40448-D13E-B0FF-1321-27391360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>
                <a:solidFill>
                  <a:srgbClr val="000000"/>
                </a:solidFill>
                <a:ea typeface="+mj-lt"/>
                <a:cs typeface="+mj-lt"/>
              </a:rPr>
              <a:t>BUILDING THE FUTURE OF AI </a:t>
            </a:r>
            <a:br>
              <a:rPr lang="en-GB" dirty="0">
                <a:solidFill>
                  <a:srgbClr val="000000"/>
                </a:solidFill>
                <a:ea typeface="+mj-lt"/>
                <a:cs typeface="+mj-lt"/>
              </a:rPr>
            </a:br>
            <a:endParaRPr lang="en-GB" dirty="0">
              <a:solidFill>
                <a:srgbClr val="000000"/>
              </a:solidFill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89E90-10CF-C595-C2C4-E7A6F8251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1212"/>
            <a:ext cx="4468316" cy="459455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600" b="1" dirty="0">
                <a:solidFill>
                  <a:srgbClr val="000000"/>
                </a:solidFill>
                <a:ea typeface="+mn-lt"/>
                <a:cs typeface="+mn-lt"/>
              </a:rPr>
              <a:t>TODAY (DEMO) 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/>
            <a:r>
              <a:rPr lang="en-GB" sz="1600" b="1"/>
              <a:t>16 agents deployed</a:t>
            </a:r>
            <a:r>
              <a:rPr lang="en-GB" sz="1600"/>
              <a:t> = 16 registration transactions on CAPX</a:t>
            </a:r>
            <a:endParaRPr lang="en-GB" sz="1600" dirty="0"/>
          </a:p>
          <a:p>
            <a:pPr marL="285750" indent="-285750"/>
            <a:r>
              <a:rPr lang="en-GB" sz="1600" dirty="0"/>
              <a:t>Real USDC payments =</a:t>
            </a:r>
            <a:r>
              <a:rPr lang="en-GB" sz="1600" b="1" dirty="0"/>
              <a:t> x402 protocol proven</a:t>
            </a:r>
            <a:r>
              <a:rPr lang="en-GB" sz="1600" dirty="0"/>
              <a:t> at complex agent-</a:t>
            </a:r>
            <a:r>
              <a:rPr lang="en-GB" sz="1600"/>
              <a:t>to-agent flow</a:t>
            </a:r>
            <a:endParaRPr lang="en-GB"/>
          </a:p>
          <a:p>
            <a:pPr marL="285750" indent="-285750"/>
            <a:r>
              <a:rPr lang="en-GB" sz="1600" b="1"/>
              <a:t>50,000+ lines of code </a:t>
            </a:r>
            <a:r>
              <a:rPr lang="en-GB" sz="1600"/>
              <a:t>= serious infrastructure build on CAPX</a:t>
            </a:r>
            <a:endParaRPr lang="en-GB"/>
          </a:p>
          <a:p>
            <a:pPr marL="285750" indent="-285750"/>
            <a:r>
              <a:rPr lang="en-GB" sz="1600" b="1"/>
              <a:t>ZK verification on-chain = 350k gas per proof = real computational work</a:t>
            </a:r>
            <a:endParaRPr lang="en-GB" b="1"/>
          </a:p>
          <a:p>
            <a:pPr marL="285750" indent="-285750"/>
            <a:r>
              <a:rPr lang="en-GB" sz="1600"/>
              <a:t>Roadmap to thousands of agents = exponential growth in CAPX transaction volume</a:t>
            </a:r>
            <a:endParaRPr lang="en-GB"/>
          </a:p>
          <a:p>
            <a:pPr marL="285750" indent="-285750"/>
            <a:endParaRPr lang="en-GB" sz="1600" dirty="0"/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2C4C57-0AAD-3DF3-763B-E43EB156D49B}"/>
              </a:ext>
            </a:extLst>
          </p:cNvPr>
          <p:cNvSpPr txBox="1">
            <a:spLocks/>
          </p:cNvSpPr>
          <p:nvPr/>
        </p:nvSpPr>
        <p:spPr>
          <a:xfrm>
            <a:off x="8978680" y="1443388"/>
            <a:ext cx="3219362" cy="46047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/>
              <a:t>Multi Silos </a:t>
            </a:r>
            <a:r>
              <a:rPr lang="en-GB" sz="1600" b="1" dirty="0" err="1"/>
              <a:t>Exapansion</a:t>
            </a:r>
            <a:endParaRPr lang="en-GB" sz="1600" b="1"/>
          </a:p>
          <a:p>
            <a:pPr marL="285750" indent="-285750"/>
            <a:r>
              <a:rPr lang="en-GB" sz="1600" b="1" dirty="0"/>
              <a:t>DeFi </a:t>
            </a:r>
            <a:r>
              <a:rPr lang="en-GB" sz="1600" dirty="0"/>
              <a:t>is first use case deployed to showcase infra capability </a:t>
            </a:r>
            <a:endParaRPr lang="en-GB"/>
          </a:p>
          <a:p>
            <a:pPr marL="285750" indent="-285750"/>
            <a:r>
              <a:rPr lang="en-GB" sz="1600" dirty="0"/>
              <a:t>Could Work in </a:t>
            </a:r>
            <a:r>
              <a:rPr lang="en-GB" sz="1600" b="1" dirty="0"/>
              <a:t>multi-silos</a:t>
            </a:r>
            <a:r>
              <a:rPr lang="en-GB" sz="1600" dirty="0"/>
              <a:t> required complex agent-to-agent </a:t>
            </a:r>
            <a:r>
              <a:rPr lang="en-GB" sz="1600"/>
              <a:t>requirements</a:t>
            </a:r>
          </a:p>
          <a:p>
            <a:pPr marL="285750" indent="-285750"/>
            <a:r>
              <a:rPr lang="en-GB" sz="1600" dirty="0"/>
              <a:t>Enterprises </a:t>
            </a:r>
            <a:r>
              <a:rPr lang="en-GB" sz="1600"/>
              <a:t>needing</a:t>
            </a:r>
            <a:r>
              <a:rPr lang="en-GB" sz="1600" dirty="0"/>
              <a:t> complex AI workflows</a:t>
            </a:r>
          </a:p>
          <a:p>
            <a:pPr marL="285750" indent="-285750"/>
            <a:r>
              <a:rPr lang="en-GB" sz="1600" dirty="0"/>
              <a:t>Like Content Creation , Healthcare, Legal </a:t>
            </a:r>
            <a:r>
              <a:rPr lang="en-GB" sz="1600" dirty="0" err="1"/>
              <a:t>fows</a:t>
            </a:r>
            <a:endParaRPr lang="en-GB" sz="1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9636DA-CE54-79A8-64D9-4DEB99EC5E8B}"/>
              </a:ext>
            </a:extLst>
          </p:cNvPr>
          <p:cNvSpPr txBox="1">
            <a:spLocks/>
          </p:cNvSpPr>
          <p:nvPr/>
        </p:nvSpPr>
        <p:spPr>
          <a:xfrm>
            <a:off x="4904520" y="1443388"/>
            <a:ext cx="4072802" cy="459455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/>
              <a:t>Three-Layer CAPX Integration:</a:t>
            </a:r>
            <a:endParaRPr lang="en-GB"/>
          </a:p>
          <a:p>
            <a:pPr marL="0" indent="0">
              <a:buNone/>
            </a:pPr>
            <a:r>
              <a:rPr lang="en-GB" sz="1600" dirty="0"/>
              <a:t>Mosaic deeply integrate </a:t>
            </a:r>
            <a:r>
              <a:rPr lang="en-GB" sz="1600" dirty="0" err="1"/>
              <a:t>Capx</a:t>
            </a:r>
            <a:r>
              <a:rPr lang="en-GB" sz="1600" dirty="0"/>
              <a:t> infra</a:t>
            </a:r>
          </a:p>
          <a:p>
            <a:pPr marL="0" indent="0">
              <a:buNone/>
            </a:pPr>
            <a:r>
              <a:rPr lang="en-GB" sz="1600">
                <a:ea typeface="+mn-lt"/>
                <a:cs typeface="+mn-lt"/>
              </a:rPr>
              <a:t>1. </a:t>
            </a:r>
            <a:r>
              <a:rPr lang="en-GB" sz="1600" b="1">
                <a:ea typeface="+mn-lt"/>
                <a:cs typeface="+mn-lt"/>
              </a:rPr>
              <a:t>x402 Streaming Payments</a:t>
            </a:r>
            <a:r>
              <a:rPr lang="en-GB" sz="1600">
                <a:ea typeface="+mn-lt"/>
                <a:cs typeface="+mn-lt"/>
              </a:rPr>
              <a:t> (Economic Layer) - Every agent payment flows through CAPX's x</a:t>
            </a:r>
            <a:endParaRPr lang="en-GB"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1600"/>
              <a:t>2. </a:t>
            </a:r>
            <a:r>
              <a:rPr lang="en-GB" sz="1600" b="1"/>
              <a:t>Agent Registration Fees</a:t>
            </a:r>
            <a:r>
              <a:rPr lang="en-GB" sz="1600"/>
              <a:t> (Revenue Layer) -New agents registering = direct revenue to CAPX infrastructure</a:t>
            </a:r>
            <a:endParaRPr lang="en-GB"/>
          </a:p>
          <a:p>
            <a:pPr marL="0" indent="0">
              <a:buNone/>
            </a:pPr>
            <a:r>
              <a:rPr lang="en-US" sz="1600" dirty="0"/>
              <a:t>3. </a:t>
            </a:r>
            <a:r>
              <a:rPr lang="en-US" sz="1600" b="1" dirty="0"/>
              <a:t>ERC-8004</a:t>
            </a:r>
            <a:r>
              <a:rPr lang="en-US" sz="1600" dirty="0"/>
              <a:t> On-Chain Reputation (Trust Layer) - </a:t>
            </a:r>
            <a:r>
              <a:rPr lang="en-US" sz="1600" dirty="0">
                <a:ea typeface="+mn-lt"/>
                <a:cs typeface="+mn-lt"/>
              </a:rPr>
              <a:t>Agent </a:t>
            </a:r>
            <a:r>
              <a:rPr lang="en-US" sz="1600">
                <a:ea typeface="+mn-lt"/>
                <a:cs typeface="+mn-lt"/>
              </a:rPr>
              <a:t>reputation stored using ERC-8004 standard on CAPX chain</a:t>
            </a:r>
            <a:br>
              <a:rPr lang="en-US" sz="1600" dirty="0">
                <a:ea typeface="+mn-lt"/>
                <a:cs typeface="+mn-lt"/>
              </a:rPr>
            </a:br>
            <a:endParaRPr lang="en-US" sz="1600" dirty="0">
              <a:ea typeface="+mn-lt"/>
              <a:cs typeface="+mn-lt"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3AEBB-372D-BFEF-777E-643C8EDC471E}"/>
              </a:ext>
            </a:extLst>
          </p:cNvPr>
          <p:cNvSpPr txBox="1"/>
          <p:nvPr/>
        </p:nvSpPr>
        <p:spPr>
          <a:xfrm>
            <a:off x="1998568" y="6033426"/>
            <a:ext cx="78943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i="1" dirty="0"/>
              <a:t>Deployed a flagship application using </a:t>
            </a:r>
            <a:r>
              <a:rPr lang="en-GB" i="1" dirty="0" err="1"/>
              <a:t>capx</a:t>
            </a:r>
            <a:r>
              <a:rPr lang="en-GB" i="1" dirty="0"/>
              <a:t> infra – for detailed docs refer GITHUB readme and websites docs</a:t>
            </a:r>
            <a:endParaRPr lang="en-GB" sz="1200" i="1"/>
          </a:p>
        </p:txBody>
      </p:sp>
    </p:spTree>
    <p:extLst>
      <p:ext uri="{BB962C8B-B14F-4D97-AF65-F5344CB8AC3E}">
        <p14:creationId xmlns:p14="http://schemas.microsoft.com/office/powerpoint/2010/main" val="1424833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VanillaVTI</vt:lpstr>
      <vt:lpstr>Mosaic Protocol</vt:lpstr>
      <vt:lpstr>PROBLEM</vt:lpstr>
      <vt:lpstr>Mosaic Solution </vt:lpstr>
      <vt:lpstr>TECHNICAL BREAKTHROUGH </vt:lpstr>
      <vt:lpstr>BUILDING THE FUTURE OF AI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419</cp:revision>
  <dcterms:created xsi:type="dcterms:W3CDTF">2025-12-24T10:30:42Z</dcterms:created>
  <dcterms:modified xsi:type="dcterms:W3CDTF">2025-12-24T11:45:08Z</dcterms:modified>
</cp:coreProperties>
</file>